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-1371600"/>
            <a:ext cx="6400800" cy="6400800"/>
          </a:xfrm>
          <a:prstGeom prst="ellipse">
            <a:avLst/>
          </a:prstGeom>
          <a:solidFill>
            <a:srgbClr val="1F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291840"/>
            <a:ext cx="4572000" cy="4572000"/>
          </a:xfrm>
          <a:prstGeom prst="ellipse">
            <a:avLst/>
          </a:prstGeom>
          <a:solidFill>
            <a:srgbClr val="0E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7315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Kinetic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6858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>
                <a:solidFill>
                  <a:srgbClr val="C9CDF5"/>
                </a:solidFill>
                <a:latin typeface="Arial"/>
              </a:rPr>
              <a:t>A fitness tracking web application with workouts, weekly goals, streaks and Google sign-in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754880"/>
            <a:ext cx="109728" cy="109728"/>
          </a:xfrm>
          <a:prstGeom prst="rect">
            <a:avLst/>
          </a:prstGeom>
          <a:solidFill>
            <a:srgbClr val="C6F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645152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6F432"/>
                </a:solidFill>
                <a:latin typeface="Arial"/>
              </a:rPr>
              <a:t>Java Web Project  |  Servlets, JDBC, core 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1775" y="1499616"/>
            <a:ext cx="4407408" cy="38403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54480"/>
            <a:ext cx="4297680" cy="3730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The problem and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530352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21208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Workout data is scattered across notes, watches and spreadsheets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People cannot tell if they are improving week to week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Weekly targets are set but never checked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Streaks and personal bests are invisible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49240" cy="54864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25780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Our solution: Kinetic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21208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One log for 7 workout types, with calories estimated from body weight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Dashboard with weekly totals, trends and time-by-type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Goal rings for workouts, minutes, calories and distance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Streaks, activity calendar and personal records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5B4DF5"/>
                </a:solidFill>
                <a:latin typeface="Arial"/>
              </a:rPr>
              <a:t>●  </a:t>
            </a:r>
            <a:r>
              <a:rPr sz="1700" b="0">
                <a:solidFill>
                  <a:srgbClr val="0F1226"/>
                </a:solidFill>
                <a:latin typeface="Arial"/>
              </a:rPr>
              <a:t>Fast sign-in with Google or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Who it is for:  </a:t>
            </a:r>
            <a:r>
              <a:rPr sz="1600" b="0">
                <a:solidFill>
                  <a:srgbClr val="0F1226"/>
                </a:solidFill>
                <a:latin typeface="Arial"/>
              </a:rPr>
              <a:t>anyone who trains regularly and wants clear numbers, not a complicated app. Built as a full Servlet and JDBC web application with no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Log and edit workouts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Run, walk, cycle, swim, strength, HIIT, yoga. Duration, distance, effort,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55448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17556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75564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28600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Smart calories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65176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MET x weight x hours. Each activity class supplies its own MET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55448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17556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75564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28600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65176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Today rings, week vs last week, 12-week chart, goal rings, time-by-type donut.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155448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53143" y="17556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3" y="175564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228600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Weekly goals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265176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Targets for sessions, minutes, calories, distance. Saved in one transaction.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08736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8736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Streaks and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Current and best streak, longest distance, biggest session.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388620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8728" y="408736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8728" y="408736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46177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Google sign-in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98348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Continue with Google. Token verified on the server before a session starts.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5" y="388620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45936" y="408736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08736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46177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Daily health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98348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Steps, water and sleep with daily rings, plus a body-weight trend line.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0263" y="388620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53143" y="408736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3" y="4087368"/>
            <a:ext cx="411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3" y="46177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226"/>
                </a:solidFill>
                <a:latin typeface="Arial"/>
              </a:rPr>
              <a:t>Install on a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3" y="4983480"/>
            <a:ext cx="23317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Installable web app (PWA), CSV export, light and dark mode, 17-week calendar.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SOLUTION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5544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F1226"/>
                </a:solidFill>
                <a:latin typeface="Arial"/>
              </a:rPr>
              <a:t>Browser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HTML, CSS, JS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2848" y="214884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68880" y="164592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ECEAFE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645920"/>
            <a:ext cx="15544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F1226"/>
                </a:solidFill>
                <a:latin typeface="Arial"/>
              </a:rPr>
              <a:t>Filters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Security, Auth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088" y="214884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64592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15544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Servlets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15, extend BaseServlet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328" y="214884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164592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15544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Services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Business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73568" y="214884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164592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20"/>
            <a:ext cx="15544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DAOs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One per table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93808" y="214884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49840" y="1645920"/>
            <a:ext cx="1645920" cy="1005840"/>
          </a:xfrm>
          <a:prstGeom prst="roundRect">
            <a:avLst>
              <a:gd name="adj" fmla="val 12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645920"/>
            <a:ext cx="15544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Database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Pool + JDBC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38328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38328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226"/>
                </a:solidFill>
                <a:latin typeface="Arial"/>
              </a:rPr>
              <a:t>Views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HTML and SVG charts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120640" y="2670048"/>
            <a:ext cx="0" cy="713232"/>
          </a:xfrm>
          <a:prstGeom prst="line">
            <a:avLst/>
          </a:prstGeom>
          <a:ln w="22225">
            <a:solidFill>
              <a:srgbClr val="5B4DF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60" y="338328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38328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226"/>
                </a:solidFill>
                <a:latin typeface="Arial"/>
              </a:rPr>
              <a:t>AuditLogger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worker thread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132320" y="2670048"/>
            <a:ext cx="0" cy="713232"/>
          </a:xfrm>
          <a:prstGeom prst="line">
            <a:avLst/>
          </a:prstGeom>
          <a:ln w="22225">
            <a:solidFill>
              <a:srgbClr val="5B4DF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21040" y="338328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38328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226"/>
                </a:solidFill>
                <a:latin typeface="Arial"/>
              </a:rPr>
              <a:t>Google verifier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tokeninfo check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9144000" y="2670048"/>
            <a:ext cx="0" cy="713232"/>
          </a:xfrm>
          <a:prstGeom prst="line">
            <a:avLst/>
          </a:prstGeom>
          <a:ln w="22225">
            <a:solidFill>
              <a:srgbClr val="5B4DF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3429000"/>
            <a:ext cx="34747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5B4DF5"/>
                </a:solidFill>
                <a:latin typeface="Arial"/>
              </a:rPr>
              <a:t>Layered design: </a:t>
            </a:r>
            <a:r>
              <a:rPr sz="1400" b="0">
                <a:solidFill>
                  <a:srgbClr val="0F1226"/>
                </a:solidFill>
                <a:latin typeface="Arial"/>
              </a:rPr>
              <a:t>each layer only talks to the one below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617720"/>
            <a:ext cx="111099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754880"/>
            <a:ext cx="530352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Composition root:</a:t>
            </a:r>
            <a:r>
              <a:rPr sz="1400" b="0">
                <a:solidFill>
                  <a:srgbClr val="636A86"/>
                </a:solidFill>
                <a:latin typeface="Arial"/>
              </a:rPr>
              <a:t> AppContext wires every DAO and service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Thin servlets:</a:t>
            </a:r>
            <a:r>
              <a:rPr sz="1400" b="0">
                <a:solidFill>
                  <a:srgbClr val="636A86"/>
                </a:solidFill>
                <a:latin typeface="Arial"/>
              </a:rPr>
              <a:t> validate, call a service, redirect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754880"/>
            <a:ext cx="521208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Cross-cutting:</a:t>
            </a:r>
            <a:r>
              <a:rPr sz="1400" b="0">
                <a:solidFill>
                  <a:srgbClr val="636A86"/>
                </a:solidFill>
                <a:latin typeface="Arial"/>
              </a:rPr>
              <a:t> SecurityFilter (CSP, CSRF), AuthFilter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Observer:</a:t>
            </a:r>
            <a:r>
              <a:rPr sz="1400" b="0">
                <a:solidFill>
                  <a:srgbClr val="636A86"/>
                </a:solidFill>
                <a:latin typeface="Arial"/>
              </a:rPr>
              <a:t> StatsService cache cleared on every data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Technology and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Java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records, switch expressions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Jakarta Servlet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servlets, filters, listeners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JDBC + 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embedded, swappable to 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8803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Maven + Jetty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7472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mvn jetty:run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JUnit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47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42062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389120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Google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80060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Sign in with Google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5349240" cy="4434840"/>
          </a:xfrm>
          <a:prstGeom prst="roundRect">
            <a:avLst>
              <a:gd name="adj" fmla="val 4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39"/>
            <a:ext cx="4983479" cy="4160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kinetic/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pom.xml, README.md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src/main/java/com/kinetic/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model/      Activity hierarchy, enums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exception/  KineticException tree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db/         ConnectionPool, Database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dao/        Dao&lt;T,ID&gt;, JdbcDao, 6 DAOs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service/    Auth, Activity, Goal, Stats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concurrent/ AuditLogger, OnlineUsers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util/       PasswordHasher, LruCache...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web/        filters, servlet/, view/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src/main/resources/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  schema.sql, application.properties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src/main/webapp/  css/ js/ WEB-INF/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  src/test/java/    47 JUnit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636A86"/>
                </a:solidFill>
                <a:latin typeface="Arial"/>
              </a:rPr>
              <a:t>Run it:  mvn jetty:run  then open localhost:8080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CORE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OOP: inheritance, polymorphism,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46304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28346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Activity  (abstract)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estimateCalories() uses met()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5B4DF5"/>
                </a:solidFill>
                <a:latin typeface="Arial"/>
              </a:rPr>
              <a:t>DistanceActivity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abstract: speed, 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697480"/>
            <a:ext cx="9144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697480"/>
            <a:ext cx="8229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Strength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148840"/>
            <a:ext cx="914400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61688" y="2697480"/>
            <a:ext cx="9144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697480"/>
            <a:ext cx="8229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HIIT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148840"/>
            <a:ext cx="1892808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0096" y="2697480"/>
            <a:ext cx="9144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697480"/>
            <a:ext cx="8229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Yoga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2148840"/>
            <a:ext cx="2871216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828800" y="2148840"/>
            <a:ext cx="1097280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" y="3886200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" y="3886200"/>
            <a:ext cx="841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Run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86384" y="3337560"/>
            <a:ext cx="1042416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344168" y="3886200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3886200"/>
            <a:ext cx="841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Walk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810512" y="3337560"/>
            <a:ext cx="18288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368296" y="3886200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14016" y="3886200"/>
            <a:ext cx="841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Cycle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28800" y="3337560"/>
            <a:ext cx="1005840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392424" y="3886200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8144" y="3886200"/>
            <a:ext cx="84124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226"/>
                </a:solidFill>
                <a:latin typeface="Arial"/>
              </a:rPr>
              <a:t>Swim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8800" y="3337560"/>
            <a:ext cx="2029968" cy="548640"/>
          </a:xfrm>
          <a:prstGeom prst="line">
            <a:avLst/>
          </a:prstGeom>
          <a:ln w="22225">
            <a:solidFill>
              <a:srgbClr val="636A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4709160"/>
            <a:ext cx="6035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Polymorphism: callers hold an Activity and never test its type.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6035040" cy="1188720"/>
          </a:xfrm>
          <a:prstGeom prst="roundRect">
            <a:avLst>
              <a:gd name="adj" fmla="val 4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257800"/>
            <a:ext cx="56692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a.applyCalories(user.getWeightKg());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// RunActivity.met()    -&gt; speed based</a:t>
            </a:r>
          </a:p>
          <a:p>
            <a:pPr algn="l"/>
            <a:r>
              <a:rPr sz="1200" b="0">
                <a:solidFill>
                  <a:srgbClr val="E6E8FF"/>
                </a:solidFill>
                <a:latin typeface="Courier New"/>
              </a:rPr>
              <a:t>// YogaActivity.met()   -&gt; 1.8 + 0.5*effort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1463040"/>
            <a:ext cx="48006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1554480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4DF5"/>
                </a:solidFill>
                <a:latin typeface="Arial"/>
              </a:rPr>
              <a:t>Interfaces and abstractions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1965960"/>
            <a:ext cx="438912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4DF5"/>
                </a:solidFill>
                <a:latin typeface="Arial"/>
              </a:rPr>
              <a:t>●  </a:t>
            </a:r>
            <a:r>
              <a:rPr sz="1200" b="1">
                <a:solidFill>
                  <a:srgbClr val="0F1226"/>
                </a:solidFill>
                <a:latin typeface="Arial"/>
              </a:rPr>
              <a:t>Entity</a:t>
            </a:r>
            <a:r>
              <a:rPr sz="1200" b="0">
                <a:solidFill>
                  <a:srgbClr val="636A86"/>
                </a:solidFill>
                <a:latin typeface="Arial"/>
              </a:rPr>
              <a:t> common id contract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B4DF5"/>
                </a:solidFill>
                <a:latin typeface="Arial"/>
              </a:rPr>
              <a:t>●  </a:t>
            </a:r>
            <a:r>
              <a:rPr sz="1200" b="1">
                <a:solidFill>
                  <a:srgbClr val="0F1226"/>
                </a:solidFill>
                <a:latin typeface="Arial"/>
              </a:rPr>
              <a:t>Trackable</a:t>
            </a:r>
            <a:r>
              <a:rPr sz="1200" b="0">
                <a:solidFill>
                  <a:srgbClr val="636A86"/>
                </a:solidFill>
                <a:latin typeface="Arial"/>
              </a:rPr>
              <a:t> goals work on any activity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B4DF5"/>
                </a:solidFill>
                <a:latin typeface="Arial"/>
              </a:rPr>
              <a:t>●  </a:t>
            </a:r>
            <a:r>
              <a:rPr sz="1200" b="1">
                <a:solidFill>
                  <a:srgbClr val="0F1226"/>
                </a:solidFill>
                <a:latin typeface="Arial"/>
              </a:rPr>
              <a:t>Dao&lt;T,ID&gt;</a:t>
            </a:r>
            <a:r>
              <a:rPr sz="1200" b="0">
                <a:solidFill>
                  <a:srgbClr val="636A86"/>
                </a:solidFill>
                <a:latin typeface="Arial"/>
              </a:rPr>
              <a:t> generic CRUD contract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B4DF5"/>
                </a:solidFill>
                <a:latin typeface="Arial"/>
              </a:rPr>
              <a:t>●  </a:t>
            </a:r>
            <a:r>
              <a:rPr sz="1200" b="1">
                <a:solidFill>
                  <a:srgbClr val="0F1226"/>
                </a:solidFill>
                <a:latin typeface="Arial"/>
              </a:rPr>
              <a:t>RowMapper&lt;T&gt;</a:t>
            </a:r>
            <a:r>
              <a:rPr sz="1200" b="0">
                <a:solidFill>
                  <a:srgbClr val="636A86"/>
                </a:solidFill>
                <a:latin typeface="Arial"/>
              </a:rPr>
              <a:t> ResultSet to object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B4DF5"/>
                </a:solidFill>
                <a:latin typeface="Arial"/>
              </a:rPr>
              <a:t>●  </a:t>
            </a:r>
            <a:r>
              <a:rPr sz="1200" b="1">
                <a:solidFill>
                  <a:srgbClr val="0F1226"/>
                </a:solidFill>
                <a:latin typeface="Arial"/>
              </a:rPr>
              <a:t>GoogleTokenVerifier</a:t>
            </a:r>
            <a:r>
              <a:rPr sz="1200" b="0">
                <a:solidFill>
                  <a:srgbClr val="636A86"/>
                </a:solidFill>
                <a:latin typeface="Arial"/>
              </a:rPr>
              <a:t> real and fake versions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5B4DF5"/>
                </a:solidFill>
                <a:latin typeface="Arial"/>
              </a:rPr>
              <a:t>●  </a:t>
            </a:r>
            <a:r>
              <a:rPr sz="1200" b="1">
                <a:solidFill>
                  <a:srgbClr val="0F1226"/>
                </a:solidFill>
                <a:latin typeface="Arial"/>
              </a:rPr>
              <a:t>DataChangeListener</a:t>
            </a:r>
            <a:r>
              <a:rPr sz="1200" b="0">
                <a:solidFill>
                  <a:srgbClr val="636A86"/>
                </a:solidFill>
                <a:latin typeface="Arial"/>
              </a:rPr>
              <a:t> observer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160520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4DF5"/>
                </a:solidFill>
                <a:latin typeface="Arial"/>
              </a:rPr>
              <a:t>Exception hierarchy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86600" y="4572000"/>
            <a:ext cx="4343400" cy="1600200"/>
          </a:xfrm>
          <a:prstGeom prst="roundRect">
            <a:avLst>
              <a:gd name="adj" fmla="val 4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709160"/>
            <a:ext cx="3977639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6E8FF"/>
                </a:solidFill>
                <a:latin typeface="Courier New"/>
              </a:rPr>
              <a:t>KineticException        (checked)</a:t>
            </a:r>
          </a:p>
          <a:p>
            <a:pPr algn="l"/>
            <a:r>
              <a:rPr sz="1100" b="0">
                <a:solidFill>
                  <a:srgbClr val="E6E8FF"/>
                </a:solidFill>
                <a:latin typeface="Courier New"/>
              </a:rPr>
              <a:t>  ValidationException  AuthException</a:t>
            </a:r>
          </a:p>
          <a:p>
            <a:pPr algn="l"/>
            <a:r>
              <a:rPr sz="1100" b="0">
                <a:solidFill>
                  <a:srgbClr val="E6E8FF"/>
                </a:solidFill>
                <a:latin typeface="Courier New"/>
              </a:rPr>
              <a:t>  NotFoundException</a:t>
            </a:r>
          </a:p>
          <a:p>
            <a:pPr algn="l"/>
            <a:r>
              <a:rPr sz="1100" b="0">
                <a:solidFill>
                  <a:srgbClr val="E6E8FF"/>
                </a:solidFill>
                <a:latin typeface="Courier New"/>
              </a:rPr>
              <a:t>DataAccessException     (unchecked)</a:t>
            </a:r>
          </a:p>
          <a:p>
            <a:pPr algn="l"/>
            <a:r>
              <a:rPr sz="1100" b="0">
                <a:solidFill>
                  <a:srgbClr val="E6E8FF"/>
                </a:solidFill>
                <a:latin typeface="Courier New"/>
              </a:rPr>
              <a:t>  wraps SQLException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CORE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Collections and generics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Dao&lt;T extends Entity, ID&gt;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Generic contract implemented by every DAO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LruCache&lt;K, V&gt;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Own generic cache: access-ordered LinkedHashMap + ReentrantLock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42615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42615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Collection&lt;? extends Trackable&gt;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42615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Wildcard lets GoalMetric score any list of activities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EnumMap, TreeMap, TreeSet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9544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Minutes by type, minutes by day, streak calculation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76472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76472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ConcurrentHashMap, key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76472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Login throttle and online-users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43400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Optional, records, streams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43400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findById results, Totals / Dashboard, groupingBy + toMap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10327"/>
            <a:ext cx="3840480" cy="475488"/>
          </a:xfrm>
          <a:prstGeom prst="roundRect">
            <a:avLst>
              <a:gd name="adj" fmla="val 2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10327"/>
            <a:ext cx="365760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Comparable&lt;Activity&gt;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910327"/>
            <a:ext cx="310896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Natural ordering by date, used by Collections.sort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508760"/>
            <a:ext cx="3840480" cy="3291840"/>
          </a:xfrm>
          <a:prstGeom prst="roundRect">
            <a:avLst>
              <a:gd name="adj" fmla="val 4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645919"/>
            <a:ext cx="3474720" cy="3017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Map&lt;LocalDate, List&lt;Activity&gt;&gt; byWeek =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window.stream().collect(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groupingBy(a -&gt; weekStart(a.date())));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/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Map&lt;LocalDate, Integer&gt; minutesByDay =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window.stream().collect(toMap(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Activity::date,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Activity::durationMinutes,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Integer::sum, TreeMap::new));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/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enum GoalMetric { WORKOUTS {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double measure(Collection&lt;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  ? extends Trackable&gt; items)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{ return items.size(); } },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7132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36A86"/>
                </a:solidFill>
                <a:latin typeface="Arial"/>
              </a:rPr>
              <a:t>Streaks use a TreeSet of active days and walk backwards from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CORE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Multithreading and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011679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Request thread 1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log(event)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0048" y="1920240"/>
            <a:ext cx="1078991" cy="777240"/>
          </a:xfrm>
          <a:prstGeom prst="line">
            <a:avLst/>
          </a:prstGeom>
          <a:ln w="22225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37744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011679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Request thread 2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log(event)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2697480"/>
            <a:ext cx="1078991" cy="0"/>
          </a:xfrm>
          <a:prstGeom prst="line">
            <a:avLst/>
          </a:prstGeom>
          <a:ln w="22225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15468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2011679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Request thread 3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log(event)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670048" y="2697480"/>
            <a:ext cx="1078991" cy="777240"/>
          </a:xfrm>
          <a:prstGeom prst="line">
            <a:avLst/>
          </a:prstGeom>
          <a:ln w="22225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49039" y="22402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240280"/>
            <a:ext cx="210312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5B4DF5"/>
                </a:solidFill>
                <a:latin typeface="Arial"/>
              </a:rPr>
              <a:t>BlockingQueue</a:t>
            </a:r>
          </a:p>
          <a:p>
            <a:pPr algn="ctr"/>
            <a:r>
              <a:rPr sz="1100" b="0">
                <a:solidFill>
                  <a:srgbClr val="636A86"/>
                </a:solidFill>
                <a:latin typeface="Arial"/>
              </a:rPr>
              <a:t>LinkedBlockingQueue(10,000)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61888" y="2697480"/>
            <a:ext cx="713232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75120" y="22402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240280"/>
            <a:ext cx="210312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kinetic-audit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daemon worker thread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87968" y="2697480"/>
            <a:ext cx="621792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224028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240280"/>
            <a:ext cx="2011679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audit_log</a:t>
            </a:r>
          </a:p>
          <a:p>
            <a:pPr algn="ctr"/>
            <a:r>
              <a:rPr sz="1100" b="0">
                <a:solidFill>
                  <a:srgbClr val="DDDFFF"/>
                </a:solidFill>
                <a:latin typeface="Arial"/>
              </a:rPr>
              <a:t>JDBC insert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B4DF5"/>
                </a:solidFill>
                <a:latin typeface="Arial"/>
              </a:rPr>
              <a:t>Where synchronization is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566928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AuditLogger:</a:t>
            </a:r>
            <a:r>
              <a:rPr sz="1300" b="0">
                <a:solidFill>
                  <a:srgbClr val="636A86"/>
                </a:solidFill>
                <a:latin typeface="Arial"/>
              </a:rPr>
              <a:t> producer/consumer, pages never wait for a DB write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ConnectionPool:</a:t>
            </a:r>
            <a:r>
              <a:rPr sz="1300" b="0">
                <a:solidFill>
                  <a:srgbClr val="636A86"/>
                </a:solidFill>
                <a:latin typeface="Arial"/>
              </a:rPr>
              <a:t> BlockingQueue of connections, 5 s wait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LruCache:</a:t>
            </a:r>
            <a:r>
              <a:rPr sz="1300" b="0">
                <a:solidFill>
                  <a:srgbClr val="636A86"/>
                </a:solidFill>
                <a:latin typeface="Arial"/>
              </a:rPr>
              <a:t> ReentrantLock around an access-ordered map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Transactions:</a:t>
            </a:r>
            <a:r>
              <a:rPr sz="1300" b="0">
                <a:solidFill>
                  <a:srgbClr val="636A86"/>
                </a:solidFill>
                <a:latin typeface="Arial"/>
              </a:rPr>
              <a:t> ThreadLocal connection per thread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434840"/>
            <a:ext cx="530352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Login throttle:</a:t>
            </a:r>
            <a:r>
              <a:rPr sz="1300" b="0">
                <a:solidFill>
                  <a:srgbClr val="636A86"/>
                </a:solidFill>
                <a:latin typeface="Arial"/>
              </a:rPr>
              <a:t> ConcurrentHashMap.compute is atomic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Online users:</a:t>
            </a:r>
            <a:r>
              <a:rPr sz="1300" b="0">
                <a:solidFill>
                  <a:srgbClr val="636A86"/>
                </a:solidFill>
                <a:latin typeface="Arial"/>
              </a:rPr>
              <a:t> ConcurrentHashMap key set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Shutdown:</a:t>
            </a:r>
            <a:r>
              <a:rPr sz="1300" b="0">
                <a:solidFill>
                  <a:srgbClr val="636A86"/>
                </a:solidFill>
                <a:latin typeface="Arial"/>
              </a:rPr>
              <a:t> poison pill flushes the queue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1">
                <a:solidFill>
                  <a:srgbClr val="0F1226"/>
                </a:solidFill>
                <a:latin typeface="Arial"/>
              </a:rPr>
              <a:t>Proof:</a:t>
            </a:r>
            <a:r>
              <a:rPr sz="1300" b="0">
                <a:solidFill>
                  <a:srgbClr val="636A86"/>
                </a:solidFill>
                <a:latin typeface="Arial"/>
              </a:rPr>
              <a:t> ConcurrencyTest, 8 threads x 50 events = 400 rows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JDBC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291840" cy="2130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291840" cy="411480"/>
          </a:xfrm>
          <a:prstGeom prst="roundRect">
            <a:avLst>
              <a:gd name="adj" fmla="val 20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017520" cy="1627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id  PK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email  UNIQUE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display_name, password_hash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provider  LOCAL | GOOGLE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google_sub  UNIQUE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weight_kg, height_cm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291840" cy="2130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291840" cy="411480"/>
          </a:xfrm>
          <a:prstGeom prst="roundRect">
            <a:avLst>
              <a:gd name="adj" fmla="val 20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activities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017520" cy="1627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id  PK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user_id  FK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type, performed_on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duration_min, distance_km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intensity, calories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63040"/>
            <a:ext cx="3291840" cy="1618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463040"/>
            <a:ext cx="3291840" cy="411480"/>
          </a:xfrm>
          <a:prstGeom prst="roundRect">
            <a:avLst>
              <a:gd name="adj" fmla="val 20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1920240"/>
            <a:ext cx="3017520" cy="11155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id  PK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user_id  FK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metric, target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UNIQUE(user_id, metric)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3291840" cy="1362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291840" cy="411480"/>
          </a:xfrm>
          <a:prstGeom prst="roundRect">
            <a:avLst>
              <a:gd name="adj" fmla="val 20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daily_logs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3017520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id  PK, user_id  FK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log_date  UNIQUE per user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steps, water_ml, sleep_min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40480"/>
            <a:ext cx="3291840" cy="1362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3840480"/>
            <a:ext cx="3291840" cy="411480"/>
          </a:xfrm>
          <a:prstGeom prst="roundRect">
            <a:avLst>
              <a:gd name="adj" fmla="val 20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84048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body_metrics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97680"/>
            <a:ext cx="3017520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id  PK, user_id  FK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measured_on  UNIQUE per user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weight_kg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840480"/>
            <a:ext cx="3291840" cy="1362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3840480"/>
            <a:ext cx="3291840" cy="411480"/>
          </a:xfrm>
          <a:prstGeom prst="roundRect">
            <a:avLst>
              <a:gd name="adj" fmla="val 20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84048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audit_log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4297680"/>
            <a:ext cx="3017520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id  PK, user_id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event, detail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0F1226"/>
                </a:solidFill>
                <a:latin typeface="Arial"/>
              </a:rPr>
              <a:t>created_at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40480" y="2286000"/>
            <a:ext cx="594360" cy="0"/>
          </a:xfrm>
          <a:prstGeom prst="line">
            <a:avLst/>
          </a:prstGeom>
          <a:ln w="31750">
            <a:solidFill>
              <a:srgbClr val="5B4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0" y="1965960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5B4DF5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2331720"/>
            <a:ext cx="594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5B4DF5"/>
                </a:solidFill>
                <a:latin typeface="Arial"/>
              </a:rPr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36A86"/>
                </a:solidFill>
                <a:latin typeface="Arial"/>
              </a:rPr>
              <a:t>activities, goals, daily_logs and body_metrics reference users with ON DELETE CASCADE.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5B4DF5"/>
                </a:solidFill>
                <a:latin typeface="Arial"/>
              </a:rPr>
              <a:t>DAOs: </a:t>
            </a:r>
            <a:r>
              <a:rPr sz="1200" b="0">
                <a:solidFill>
                  <a:srgbClr val="0F1226"/>
                </a:solidFill>
                <a:latin typeface="Arial"/>
              </a:rPr>
              <a:t>UserDao, ActivityDao, GoalDao, DailyLogDao, BodyMetricDao, AuditDao extend JdbcDao and implement Dao&lt;T, ID&gt;.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JDBC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JDBC: pool, prepared statements,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39"/>
            <a:ext cx="512064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// JdbcDao: every query is parameterised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protected &lt;T&gt; List&lt;T&gt; query(String sql,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    RowMapper&lt;T&gt; mapper, Object... params) {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return db.withConnection(c -&gt; {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try (PreparedStatement ps =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       c.prepareStatement(sql)) {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  bind(ps, params);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  try (ResultSet rs = ps.executeQuery()) {...}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1206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// GoalService: all goals save, or none do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db.inTransaction(() -&gt; {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parsed.forEach((metric, target) -&gt; {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if (target &lt;= 0) goals.deleteByMetric(..);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  else goals.save(new Goal(...));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});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  return null;</a:t>
            </a:r>
          </a:p>
          <a:p>
            <a:pPr algn="l"/>
            <a:r>
              <a:rPr sz="1050" b="0">
                <a:solidFill>
                  <a:srgbClr val="E6E8FF"/>
                </a:solidFill>
                <a:latin typeface="Courier New"/>
              </a:rPr>
              <a:t>});   // commit, or rollback on any exception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ConnectionPool:</a:t>
            </a:r>
            <a:r>
              <a:rPr sz="1400" b="0">
                <a:solidFill>
                  <a:srgbClr val="636A86"/>
                </a:solidFill>
                <a:latin typeface="Arial"/>
              </a:rPr>
              <a:t> fixed size, dynamic-proxy connections: close() returns to the pool</a:t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PreparedStatement only:</a:t>
            </a:r>
            <a:r>
              <a:rPr sz="1400" b="0">
                <a:solidFill>
                  <a:srgbClr val="636A86"/>
                </a:solidFill>
                <a:latin typeface="Arial"/>
              </a:rPr>
              <a:t> no string-built SQL, so no SQL injection</a:t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Transactions:</a:t>
            </a:r>
            <a:r>
              <a:rPr sz="1400" b="0">
                <a:solidFill>
                  <a:srgbClr val="636A86"/>
                </a:solidFill>
                <a:latin typeface="Arial"/>
              </a:rPr>
              <a:t> commit and rollback, nested calls join the open one</a:t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Batch insert:</a:t>
            </a:r>
            <a:r>
              <a:rPr sz="1400" b="0">
                <a:solidFill>
                  <a:srgbClr val="636A86"/>
                </a:solidFill>
                <a:latin typeface="Arial"/>
              </a:rPr>
              <a:t> addBatch / executeBatch seeds 16 weeks of demo data</a:t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Generated keys:</a:t>
            </a:r>
            <a:r>
              <a:rPr sz="1400" b="0">
                <a:solidFill>
                  <a:srgbClr val="636A86"/>
                </a:solidFill>
                <a:latin typeface="Arial"/>
              </a:rPr>
              <a:t> RETURN_GENERATED_KEYS sets the new id</a:t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Portable:</a:t>
            </a:r>
            <a:r>
              <a:rPr sz="1400" b="0">
                <a:solidFill>
                  <a:srgbClr val="636A86"/>
                </a:solidFill>
                <a:latin typeface="Arial"/>
              </a:rPr>
              <a:t> change db.url to use MySQL or PostgreSQL</a:t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5B4DF5"/>
                </a:solidFill>
                <a:latin typeface="Arial"/>
              </a:rPr>
              <a:t>●  </a:t>
            </a:r>
            <a:r>
              <a:rPr sz="1400" b="1">
                <a:solidFill>
                  <a:srgbClr val="0F1226"/>
                </a:solidFill>
                <a:latin typeface="Arial"/>
              </a:rPr>
              <a:t>Tested:</a:t>
            </a:r>
            <a:r>
              <a:rPr sz="1400" b="0">
                <a:solidFill>
                  <a:srgbClr val="636A86"/>
                </a:solidFill>
                <a:latin typeface="Arial"/>
              </a:rPr>
              <a:t> rollback test and cascade-delete test on H2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SERVLETS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Servlets and web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Request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2848" y="205740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68880" y="164592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CEAFE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64592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SecurityFilter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088" y="205740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64592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ECEAFE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AuthFilter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328" y="205740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164592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Servlet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73568" y="205740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164592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2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Service + DAO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93808" y="2057400"/>
            <a:ext cx="237744" cy="0"/>
          </a:xfrm>
          <a:prstGeom prst="line">
            <a:avLst/>
          </a:prstGeom>
          <a:ln w="25400">
            <a:solidFill>
              <a:srgbClr val="63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49840" y="1645920"/>
            <a:ext cx="1645920" cy="822960"/>
          </a:xfrm>
          <a:prstGeom prst="roundRect">
            <a:avLst>
              <a:gd name="adj" fmla="val 12000"/>
            </a:avLst>
          </a:prstGeom>
          <a:solidFill>
            <a:srgbClr val="0D0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645920"/>
            <a:ext cx="155448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542032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36A86"/>
                </a:solidFill>
                <a:latin typeface="Arial"/>
              </a:rPr>
              <a:t>GET or 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542032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36A86"/>
                </a:solidFill>
                <a:latin typeface="Arial"/>
              </a:rPr>
              <a:t>headers, CSP, CSRF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542032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36A86"/>
                </a:solidFill>
                <a:latin typeface="Arial"/>
              </a:rPr>
              <a:t>redirect to /login if no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42032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36A86"/>
                </a:solidFill>
                <a:latin typeface="Arial"/>
              </a:rPr>
              <a:t>BaseServlet.dispatch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42032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36A86"/>
                </a:solidFill>
                <a:latin typeface="Arial"/>
              </a:rPr>
              <a:t>business rules, JDBC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542032"/>
            <a:ext cx="17373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36A86"/>
                </a:solidFill>
                <a:latin typeface="Arial"/>
              </a:rPr>
              <a:t>HTML + SVG 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918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3832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4DF5"/>
                </a:solidFill>
                <a:latin typeface="Arial"/>
              </a:rPr>
              <a:t>BaseServlet: one error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493776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ValidationException: message shown, form re-rendered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AuthException: 401 with the email kept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Anything else: logged, friendly 500 page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Post, redirect, get with one-time flash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2918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4DF5"/>
                </a:solidFill>
                <a:latin typeface="Arial"/>
              </a:rPr>
              <a:t>Servlet features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94760"/>
            <a:ext cx="493776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@WebServlet, @WebFilter, @WebListener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HttpSession, session id rotation, timeout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ServletContextListener starts the app and DB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Error pages in web.xml, CSV file download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/health JSON endpoint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Sign in with Google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99" y="1371600"/>
            <a:ext cx="16459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19" y="1371600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Browser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1920240"/>
            <a:ext cx="0" cy="4206240"/>
          </a:xfrm>
          <a:prstGeom prst="line">
            <a:avLst/>
          </a:prstGeom>
          <a:ln w="19050">
            <a:solidFill>
              <a:srgbClr val="E5E7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79" y="1371600"/>
            <a:ext cx="16459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8999" y="1371600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Google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1920240"/>
            <a:ext cx="0" cy="4206240"/>
          </a:xfrm>
          <a:prstGeom prst="line">
            <a:avLst/>
          </a:prstGeom>
          <a:ln w="19050">
            <a:solidFill>
              <a:srgbClr val="E5E7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92240" y="1371600"/>
            <a:ext cx="1645920" cy="502920"/>
          </a:xfrm>
          <a:prstGeom prst="roundRect">
            <a:avLst>
              <a:gd name="adj" fmla="val 12000"/>
            </a:avLst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371600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Kinetic server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1920240"/>
            <a:ext cx="0" cy="4206240"/>
          </a:xfrm>
          <a:prstGeom prst="line">
            <a:avLst/>
          </a:prstGeom>
          <a:ln w="19050">
            <a:solidFill>
              <a:srgbClr val="E5E7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9760" y="1371600"/>
            <a:ext cx="16459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371600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F1226"/>
                </a:solidFill>
                <a:latin typeface="Arial"/>
              </a:rPr>
              <a:t>Database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20" y="1920240"/>
            <a:ext cx="0" cy="4206240"/>
          </a:xfrm>
          <a:prstGeom prst="line">
            <a:avLst/>
          </a:prstGeom>
          <a:ln w="19050">
            <a:solidFill>
              <a:srgbClr val="E5E7F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0160" y="2331720"/>
            <a:ext cx="292608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2020824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1  Click Continue with Google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280160" y="2788920"/>
            <a:ext cx="292608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2478024"/>
            <a:ext cx="2834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2  Signed ID token (credential)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3246120"/>
            <a:ext cx="603504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71600" y="2935224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3  POST /auth/google + CSRF token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206240" y="3703320"/>
            <a:ext cx="310896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79" y="339242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4  Verify via tokeninfo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06240" y="4114800"/>
            <a:ext cx="310896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97679" y="3803904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5  Claims: aud, iss, exp, email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0" y="4572000"/>
            <a:ext cx="301752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06640" y="4261104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6  Find, link or create user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280160" y="5074920"/>
            <a:ext cx="6035040" cy="0"/>
          </a:xfrm>
          <a:prstGeom prst="line">
            <a:avLst/>
          </a:prstGeom>
          <a:ln w="25400">
            <a:solidFill>
              <a:srgbClr val="5B4D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71600" y="4764024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226"/>
                </a:solidFill>
                <a:latin typeface="Arial"/>
              </a:rPr>
              <a:t>7  New session, redirect to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486400"/>
            <a:ext cx="11109960" cy="731520"/>
          </a:xfrm>
          <a:prstGeom prst="roundRect">
            <a:avLst>
              <a:gd name="adj" fmla="val 8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86400"/>
            <a:ext cx="1069848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5B4DF5"/>
                </a:solidFill>
                <a:latin typeface="Arial"/>
              </a:rPr>
              <a:t>Server checks:  </a:t>
            </a:r>
            <a:r>
              <a:rPr sz="1300" b="0">
                <a:solidFill>
                  <a:srgbClr val="0F1226"/>
                </a:solidFill>
                <a:latin typeface="Arial"/>
              </a:rPr>
              <a:t>audience equals our client ID, issuer is Google, token not expired, email verified. The browser is never trusted.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62456"/>
            <a:ext cx="5504688" cy="348157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98348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36A86"/>
                </a:solidFill>
                <a:latin typeface="Arial"/>
              </a:rPr>
              <a:t>Landing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362456"/>
            <a:ext cx="5504688" cy="348157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94960" cy="3371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498348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36A86"/>
                </a:solidFill>
                <a:latin typeface="Arial"/>
              </a:rPr>
              <a:t>Sign in with Google or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636A86"/>
                </a:solidFill>
                <a:latin typeface="Arial"/>
              </a:rPr>
              <a:t>Public pages share the same design system: indigo brand colour, rounded cards, system fonts, light and dark themes.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Dashboard and activity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16736"/>
            <a:ext cx="4428622" cy="38587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318894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8776" y="1316736"/>
            <a:ext cx="5508345" cy="38587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ctiv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5398617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4924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36A86"/>
                </a:solidFill>
                <a:latin typeface="Arial"/>
              </a:rPr>
              <a:t>Dashboard: totals, 12-week chart, goal rings,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349240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36A86"/>
                </a:solidFill>
                <a:latin typeface="Arial"/>
              </a:rPr>
              <a:t>Activities: log form, filters, history, CSV export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Health, progress and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16736"/>
            <a:ext cx="4389120" cy="367588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279392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02936" y="1316736"/>
            <a:ext cx="3707785" cy="44074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3598057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63456" y="1316736"/>
            <a:ext cx="2095622" cy="44074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371600"/>
            <a:ext cx="1985894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074920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36A86"/>
                </a:solidFill>
                <a:latin typeface="Arial"/>
              </a:rPr>
              <a:t>Progress: calendar heatmap,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36A86"/>
                </a:solidFill>
                <a:latin typeface="Arial"/>
              </a:rPr>
              <a:t>Health: rings, steps, water, sleep,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8064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36A86"/>
                </a:solidFill>
                <a:latin typeface="Arial"/>
              </a:rPr>
              <a:t>Phone layout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Security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5B4DF5"/>
                </a:solidFill>
                <a:latin typeface="Arial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PBKDF2 hashing with per-user salt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PreparedStatement everywhere (no SQL injection)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HTML escaping on all output (no XSS)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CSRF token on every POST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Content-Security-Policy and security headers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5 failed logins per 10 minutes locks the email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Users can only touch their own data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Server-side Google token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5B4DF5"/>
                </a:solidFill>
                <a:latin typeface="Arial"/>
              </a:rPr>
              <a:t>Testing: 47 JUnit tests, all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Polymorphic calorie maths and summaries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Streak logic, goal scoring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Registration, login, lockout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Google: create, link, reject forged token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Google claim checks (audience, issuer, expiry)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Workout, goal, health and edit flows on in-memory JDBC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Transaction rollback, cascade delete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B4DF5"/>
                </a:solidFill>
                <a:latin typeface="Arial"/>
              </a:rPr>
              <a:t>●  </a:t>
            </a:r>
            <a:r>
              <a:rPr sz="1300" b="0">
                <a:solidFill>
                  <a:srgbClr val="0F1226"/>
                </a:solidFill>
                <a:latin typeface="Arial"/>
              </a:rPr>
              <a:t>Thread safety: pool, audit logger, cache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4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B4DF5"/>
                </a:solidFill>
                <a:latin typeface="Arial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226"/>
                </a:solidFill>
                <a:latin typeface="Arial"/>
              </a:rPr>
              <a:t>How the project meets the marking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36A86"/>
                </a:solidFill>
                <a:latin typeface="Arial"/>
              </a:rPr>
              <a:t>Kinetic  |  Java Servlets + JDBC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36A86"/>
                </a:solidFill>
                <a:latin typeface="Arial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1099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6948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Arial"/>
                        </a:rPr>
                        <a:t>Rubric area</a:t>
                      </a:r>
                    </a:p>
                  </a:txBody>
                  <a:tcPr>
                    <a:solidFill>
                      <a:srgbClr val="5B4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Arial"/>
                        </a:rPr>
                        <a:t>Evidence in Kinetic</a:t>
                      </a:r>
                    </a:p>
                  </a:txBody>
                  <a:tcPr>
                    <a:solidFill>
                      <a:srgbClr val="5B4DF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226"/>
                          </a:solidFill>
                          <a:latin typeface="Arial"/>
                        </a:rPr>
                        <a:t>Problem understanding and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226"/>
                          </a:solidFill>
                          <a:latin typeface="Arial"/>
                        </a:rPr>
                        <a:t>Layered architecture, ER design, clear user problem and 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226"/>
                          </a:solidFill>
                          <a:latin typeface="Arial"/>
                        </a:rPr>
                        <a:t>Core Java concepts</a:t>
                      </a:r>
                    </a:p>
                  </a:txBody>
                  <a:tcPr anchor="ctr">
                    <a:solidFill>
                      <a:srgbClr val="EC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226"/>
                          </a:solidFill>
                          <a:latin typeface="Arial"/>
                        </a:rPr>
                        <a:t>Inheritance, polymorphism, interfaces, exceptions, collections, generics, threads</a:t>
                      </a:r>
                    </a:p>
                  </a:txBody>
                  <a:tcPr anchor="ctr">
                    <a:solidFill>
                      <a:srgbClr val="ECEAF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226"/>
                          </a:solidFill>
                          <a:latin typeface="Arial"/>
                        </a:rPr>
                        <a:t>Database integration (JDBC)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226"/>
                          </a:solidFill>
                          <a:latin typeface="Arial"/>
                        </a:rPr>
                        <a:t>Own pool, PreparedStatement, transactions, batch, 6 DAO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226"/>
                          </a:solidFill>
                          <a:latin typeface="Arial"/>
                        </a:rPr>
                        <a:t>Servlets and web integration</a:t>
                      </a:r>
                    </a:p>
                  </a:txBody>
                  <a:tcPr anchor="ctr">
                    <a:solidFill>
                      <a:srgbClr val="EC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226"/>
                          </a:solidFill>
                          <a:latin typeface="Arial"/>
                        </a:rPr>
                        <a:t>15 servlets, 2 filters, listener, sessions, CSRF, Google login, PWA</a:t>
                      </a:r>
                    </a:p>
                  </a:txBody>
                  <a:tcPr anchor="ctr">
                    <a:solidFill>
                      <a:srgbClr val="ECEAF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226"/>
                          </a:solidFill>
                          <a:latin typeface="Arial"/>
                        </a:rPr>
                        <a:t>Code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226"/>
                          </a:solidFill>
                          <a:latin typeface="Arial"/>
                        </a:rPr>
                        <a:t>Modular packages, comments, central error policy, 47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-1371600"/>
            <a:ext cx="6400800" cy="6400800"/>
          </a:xfrm>
          <a:prstGeom prst="ellipse">
            <a:avLst/>
          </a:prstGeom>
          <a:solidFill>
            <a:srgbClr val="1F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73152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>
                <a:solidFill>
                  <a:srgbClr val="C9CDF5"/>
                </a:solidFill>
                <a:latin typeface="Arial"/>
              </a:rPr>
              <a:t>Kinetic: move with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17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023360"/>
            <a:ext cx="658368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C6F432"/>
                </a:solidFill>
                <a:latin typeface="Arial"/>
              </a:rPr>
              <a:t>Run  </a:t>
            </a:r>
            <a:r>
              <a:rPr sz="1700" b="0">
                <a:solidFill>
                  <a:srgbClr val="FFFFFF"/>
                </a:solidFill>
                <a:latin typeface="Arial"/>
              </a:rPr>
              <a:t>mvn jetty:run  then  localhost:8080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C6F432"/>
                </a:solidFill>
                <a:latin typeface="Arial"/>
              </a:rPr>
              <a:t>Demo  </a:t>
            </a:r>
            <a:r>
              <a:rPr sz="1700" b="0">
                <a:solidFill>
                  <a:srgbClr val="FFFFFF"/>
                </a:solidFill>
                <a:latin typeface="Arial"/>
              </a:rPr>
              <a:t>Try the live demo button, or demo@kinetic.app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188720"/>
            <a:ext cx="219716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